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3" r:id="rId8"/>
    <p:sldId id="264" r:id="rId9"/>
    <p:sldId id="266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RAW平均值</c:f>
              <c:strCache>
                <c:ptCount val="1"/>
                <c:pt idx="0">
                  <c:v>RAW平均值</c:v>
                </c:pt>
              </c:strCache>
            </c:strRef>
          </c:tx>
          <c:spPr>
            <a:ln w="28575" cap="rnd">
              <a:solidFill>
                <a:srgbClr val="276EA8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276EA8"/>
              </a:solidFill>
            </c:spPr>
          </c:marker>
          <c:dLbls>
            <c:delete val="1"/>
          </c:dLbls>
          <c:xVal>
            <c:numRef>
              <c:f>'Chart Data'!$A$2:$A$6</c:f>
              <c:numCache>
                <c:formatCode>General</c:formatCode>
                <c:ptCount val="5"/>
                <c:pt idx="0">
                  <c:v>0.1</c:v>
                </c:pt>
                <c:pt idx="1">
                  <c:v>0.3</c:v>
                </c:pt>
                <c:pt idx="2">
                  <c:v>0.5</c:v>
                </c:pt>
                <c:pt idx="3">
                  <c:v>0.7</c:v>
                </c:pt>
                <c:pt idx="4">
                  <c:v>0.9</c:v>
                </c:pt>
              </c:numCache>
            </c:numRef>
          </c:xVal>
          <c:yVal>
            <c:numRef>
              <c:f>'Chart Data'!$B$2:$B$6</c:f>
              <c:numCache>
                <c:formatCode>0.00</c:formatCode>
                <c:ptCount val="5"/>
                <c:pt idx="0">
                  <c:v>0.851648351648352</c:v>
                </c:pt>
                <c:pt idx="1">
                  <c:v>0.863723608445297</c:v>
                </c:pt>
                <c:pt idx="2">
                  <c:v>0.881286549707602</c:v>
                </c:pt>
                <c:pt idx="3">
                  <c:v>0.903116943425835</c:v>
                </c:pt>
                <c:pt idx="4">
                  <c:v>0.932764934767681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0.9"/>
          <c:min val="0.1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crossBetween val="midCat"/>
        <c:majorUnit val="0.2"/>
      </c:valAx>
      <c:valAx>
        <c:axId val="48672768"/>
        <c:scaling>
          <c:orientation val="minMax"/>
          <c:max val="0.96"/>
          <c:min val="0.84"/>
        </c:scaling>
        <c:delete val="0"/>
        <c:axPos val="l"/>
        <c:majorGridlines>
          <c:spPr>
            <a:ln w="9525">
              <a:solidFill>
                <a:srgbClr val="DFE6EC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midCat"/>
        <c:majorUnit val="0.04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2956dcf1-b8ed-499b-be90-1c6081e81f0e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RAW平均值</c:f>
              <c:strCache>
                <c:ptCount val="1"/>
                <c:pt idx="0">
                  <c:v>RAW平均值</c:v>
                </c:pt>
              </c:strCache>
            </c:strRef>
          </c:tx>
          <c:spPr>
            <a:ln w="28575" cap="rnd">
              <a:solidFill>
                <a:srgbClr val="276EA8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276EA8"/>
              </a:solidFill>
            </c:spPr>
          </c:marker>
          <c:dLbls>
            <c:delete val="1"/>
          </c:dLbls>
          <c:xVal>
            <c:numRef>
              <c:f>'Chart Data'!$A$2:$A$12</c:f>
              <c:numCache>
                <c:formatCode>General</c:formatCode>
                <c:ptCount val="11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  <c:pt idx="4">
                  <c:v>24</c:v>
                </c:pt>
                <c:pt idx="5">
                  <c:v>28</c:v>
                </c:pt>
                <c:pt idx="6">
                  <c:v>32</c:v>
                </c:pt>
                <c:pt idx="7">
                  <c:v>36</c:v>
                </c:pt>
                <c:pt idx="8">
                  <c:v>40</c:v>
                </c:pt>
                <c:pt idx="9">
                  <c:v>44</c:v>
                </c:pt>
                <c:pt idx="10">
                  <c:v>48</c:v>
                </c:pt>
              </c:numCache>
            </c:numRef>
          </c:xVal>
          <c:yVal>
            <c:numRef>
              <c:f>'Chart Data'!$B$2:$B$12</c:f>
              <c:numCache>
                <c:formatCode>0.00</c:formatCode>
                <c:ptCount val="11"/>
                <c:pt idx="0">
                  <c:v>0.851648351648352</c:v>
                </c:pt>
                <c:pt idx="1">
                  <c:v>0.905707196029777</c:v>
                </c:pt>
                <c:pt idx="2">
                  <c:v>0.92984934086629</c:v>
                </c:pt>
                <c:pt idx="3">
                  <c:v>0.94224924012158</c:v>
                </c:pt>
                <c:pt idx="4">
                  <c:v>0.953065134099617</c:v>
                </c:pt>
                <c:pt idx="5">
                  <c:v>0.959152366348195</c:v>
                </c:pt>
                <c:pt idx="6">
                  <c:v>0.964487486568238</c:v>
                </c:pt>
                <c:pt idx="7">
                  <c:v>0.969042616413496</c:v>
                </c:pt>
                <c:pt idx="8">
                  <c:v>0.972905668097758</c:v>
                </c:pt>
                <c:pt idx="9">
                  <c:v>0.974660114660115</c:v>
                </c:pt>
                <c:pt idx="10">
                  <c:v>0.978097586339925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48"/>
          <c:min val="8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crossBetween val="midCat"/>
        <c:majorUnit val="8"/>
      </c:valAx>
      <c:valAx>
        <c:axId val="48672768"/>
        <c:scaling>
          <c:orientation val="minMax"/>
          <c:max val="1"/>
          <c:min val="0.84"/>
        </c:scaling>
        <c:delete val="0"/>
        <c:axPos val="l"/>
        <c:majorGridlines>
          <c:spPr>
            <a:ln w="9525">
              <a:solidFill>
                <a:srgbClr val="DFE6EC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midCat"/>
        <c:majorUnit val="0.04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7554b6d-a6a8-42cf-8d25-905cd1b950d9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RAW平均值</c:f>
              <c:strCache>
                <c:ptCount val="1"/>
                <c:pt idx="0">
                  <c:v>RAW平均值</c:v>
                </c:pt>
              </c:strCache>
            </c:strRef>
          </c:tx>
          <c:spPr>
            <a:ln w="28575" cap="rnd">
              <a:solidFill>
                <a:srgbClr val="276EA8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276EA8"/>
              </a:solidFill>
            </c:spPr>
          </c:marker>
          <c:dLbls>
            <c:delete val="1"/>
          </c:dLbls>
          <c:xVal>
            <c:numRef>
              <c:f>'Chart Data'!$A$2:$A$4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'Chart Data'!$B$2:$B$4</c:f>
              <c:numCache>
                <c:formatCode>0.000</c:formatCode>
                <c:ptCount val="3"/>
                <c:pt idx="0">
                  <c:v>0.851648351648352</c:v>
                </c:pt>
                <c:pt idx="1">
                  <c:v>0.856066044508256</c:v>
                </c:pt>
                <c:pt idx="2">
                  <c:v>0.860067539046011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3"/>
          <c:min val="1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crossBetween val="midCat"/>
        <c:majorUnit val="1"/>
      </c:valAx>
      <c:valAx>
        <c:axId val="48672768"/>
        <c:scaling>
          <c:orientation val="minMax"/>
          <c:max val="0.862"/>
          <c:min val="0.85"/>
        </c:scaling>
        <c:delete val="0"/>
        <c:axPos val="l"/>
        <c:majorGridlines>
          <c:spPr>
            <a:ln w="9525">
              <a:solidFill>
                <a:srgbClr val="DFE6EC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midCat"/>
        <c:majorUnit val="0.004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1d7d8a6c-e219-4ecf-b57f-e58ca5ad8588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汇报时间约10分钟。开场说明：研究方向是RRW，前一阶段先以师兄论文的RAW单参数结果建立可核对的基础。当前完成的是主要RAW数据复现、回填、Origin作图和论文方法梳理，还没有RRW计算结果。</a:t>
            </a:r>
          </a:p>
          <a:p/>
          <a:p>
            <a:r>
              <a:t>资料来源：</a:t>
            </a:r>
          </a:p>
          <a:p>
            <a:r>
              <a:t>项目目录：D:/钢结构RRW方向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问题是：在保持原系统参数可比的前提下，目标构件完全可靠之后，系统风险能够降低多少，且这种贡献如何随参数变化？RAW用于复现与对照；RRW才是本人的研究方向。老师已有完整RLP求解程序，我负责整理输入需求、接收并核查概率结果、计算指标、绘图及解释。不需要重新建设完整RLP程序。</a:t>
            </a:r>
          </a:p>
          <a:p/>
          <a:p>
            <a:r>
              <a:t>资料来源：依据：吴仁彬，2026，第2章；《师兄毕业论文_计算方法与RRW研究衔接》第8～9节。</a:t>
            </a:r>
          </a:p>
          <a:p>
            <a:r>
              <a:t>项目目录：D:/钢结构RRW方向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统计的是各参数组在表中展示的行数，组间相同的基准点会重复出现，不等于20个互不重复的组合。共26行，20行已有下界、上界和均值，共60个RAW数值。相关系数、总数和潜在脆性数量三组完整，可靠指标组只有β=3.0。尤其可靠指标变化组固定n=10，不是n=8。既有其它β工作簿尚需核对固定条件和来源后才能补入。四张Origin单图和四面板总图已保存，但可靠指标图目前只含一个点。</a:t>
            </a:r>
          </a:p>
          <a:p/>
          <a:p>
            <a:r>
              <a:t>资料来源：来源：单参数计算表、RAW复现与对比表；参数依据论文第2.3.1节、图2.6～2.9。</a:t>
            </a:r>
          </a:p>
          <a:p>
            <a:r>
              <a:t>项目目录：D:/钢结构RRW方向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只展示三组已完整复现的平均值，数据表和原Origin工程仍保留全部上下界。ρ从0.1到0.9，均值从0.851648到0.932765；n从8到48，从0.851648到0.978098；n₁从1到3，从0.851648到0.860068。三个子图纵轴范围不同，仅用于辨识各自趋势，不用于横向比较斜率。28根点使用已确认修正。可靠指标组只有β=3.0的0.886263，尚不能推断β变化趋势。这些均是RAW结果，不是RRW结果。</a:t>
            </a:r>
          </a:p>
          <a:p/>
          <a:p>
            <a:r>
              <a:t>资料来源：来源：串联系统单参数_RAW绘图数据.tsv；按论文同侧比值的平均值绘制。</a:t>
            </a:r>
          </a:p>
          <a:p>
            <a:r>
              <a:t>项目目录：D:/钢结构RRW方向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首批只用一个基准组合验证接口：n=8，n₁=1，β=3.0，ρ=0.1，脆性属性概率p=0.2，目标是唯一潜在脆性构件，编号需在提交时明确。原系统和完全可靠系统使用同一组其他输入。β在塑性与脆性条件间的对应规则、ρ描述哪些变量、K=3具体含义都沿用原程序并请老师确认，不自行推导。最小回传为原系统与完全可靠系统上下界四个概率及实际输入，注明是否已组合加权、档位、精度。建议同时返回原系统全塑性与一根脆性的条件概率以便逐步复核。</a:t>
            </a:r>
          </a:p>
          <a:p/>
          <a:p>
            <a:r>
              <a:t>资料来源：依据：论文第2.3.1节基准条件；计算方法说明第9节。</a:t>
            </a:r>
          </a:p>
          <a:p>
            <a:r>
              <a:t>项目目录：D:/钢结构RRW方向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轮先确认基准，再开展ρ、n、β、n₁单参数RRW，沿用论文原系统参数设定。输出原系统与完全可靠系统概率、RRW区间及确认后的代表值，作图并与同条件RAW比较；补齐RAW可靠指标缺失数据可同步整理。第二轮开展ρ×n₁、n×n₁、n×ρ，形成多参数趋势与单参数结果之间的解释。既有171行只是一套待核对网格，不能宣称是论文实际全部求解点。多参数表I4=4、I5=5与固定β=3.0冲突，本轮仅记录、未更改Excel，提交前需处理。</a:t>
            </a:r>
          </a:p>
          <a:p/>
          <a:p>
            <a:r>
              <a:t>资料来源：依据：论文第2.3.1～2.3.2节；计算方法说明第7、14节。</a:t>
            </a:r>
          </a:p>
          <a:p>
            <a:r>
              <a:t>项目目录：D:/钢结构RRW方向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时强调三个要点：第一，已完成20行RAW复现、60个数值，并完成表格回填和Origin图件，仍缺可靠指标的6组；第二，28根修正差异已经明确记录，论文方法已整理成可复核文档；第三，RRW尚未取得分母概率，需要请老师确认完全可靠实现、失效定义与区间口径，并先回传一组基准概率。基准通过后按单参数、多参数两轮执行。讨论可聚焦理想串联下倒数关系是否成立，以及如何在实际结构受力条件下体现RRW与RAW的区别。</a:t>
            </a:r>
          </a:p>
          <a:p/>
          <a:p>
            <a:r>
              <a:t>资料来源：进度截至2026年9月14日；详细计算和来源见项目方法说明及复现工作簿。</a:t>
            </a:r>
          </a:p>
          <a:p>
            <a:r>
              <a:t>项目目录：D:/钢结构RRW方向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4095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63150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0">
              <a:solidFill>
                <a:srgbClr val="536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314450"/>
            <a:ext cx="10810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钢结构潜在脆性构件重要性研究</a:t>
            </a:r>
            <a:endParaRPr sz="33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143125"/>
            <a:ext cx="1081087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RRW 研究进度汇报</a:t>
            </a:r>
            <a:endParaRPr sz="42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34385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 RAW 主要复现，下一步开展 RRW 基准计算</a:t>
            </a:r>
            <a:endParaRPr sz="2175" b="0">
              <a:solidFill>
                <a:srgbClr val="27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4862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串联系统：单参数分析 → 多参数分析</a:t>
            </a:r>
            <a:endParaRPr sz="2100" b="0">
              <a:solidFill>
                <a:srgbClr val="26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54006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2026年9月15日  ·  进度截至2026年9月14日</a:t>
            </a:r>
            <a:endParaRPr sz="1725" b="0">
              <a:solidFill>
                <a:srgbClr val="536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095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本研究关注“保留构件并令其完全可靠”带来的风险降低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63150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0">
              <a:solidFill>
                <a:srgbClr val="536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647825"/>
          <a:ext cx="10972800" cy="3067052"/>
        </p:xfrm>
        <a:graphic>
          <a:graphicData uri="http://schemas.openxmlformats.org/drawingml/2006/table">
            <a:tbl>
              <a:tblPr/>
              <a:tblGrid>
                <a:gridCol w="2286000"/>
                <a:gridCol w="4171950"/>
                <a:gridCol w="4514850"/>
              </a:tblGrid>
              <a:tr h="766763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比较内容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已复现：论文 RAW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待开展：标准 RRW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</a:tr>
              <a:tr h="766763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目标构件处理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去掉目标构件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保留构件并关闭全部失效事件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指标定义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RAW = Pf(S₋ᵢ) / Pf(S)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RRW = Pf(S) / Pf(Sᵢ⁺)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当前用途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建立论文复现与对照基础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衡量完全可靠处理的风险降低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47700" y="5191125"/>
            <a:ext cx="108108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工作：完成数据需求、后处理、对比和作图。</a:t>
            </a:r>
            <a:endParaRPr sz="2100" b="0">
              <a:solidFill>
                <a:srgbClr val="27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095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单参数 RAW 已复现20个完整参数行，仍缺6个可靠指标点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63150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0">
              <a:solidFill>
                <a:srgbClr val="536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533525"/>
          <a:ext cx="10972800" cy="3381375"/>
        </p:xfrm>
        <a:graphic>
          <a:graphicData uri="http://schemas.openxmlformats.org/drawingml/2006/table">
            <a:tbl>
              <a:tblPr/>
              <a:tblGrid>
                <a:gridCol w="3476625"/>
                <a:gridCol w="4953000"/>
                <a:gridCol w="2543175"/>
              </a:tblGrid>
              <a:tr h="6762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变化参数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论文取值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</a:t>
                      </a:r>
                      <a:r>
                        <a:rPr lang="zh-CN"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复现</a:t>
                      </a:r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</a:t>
                      </a:r>
                      <a:r>
                        <a:rPr lang="en-US"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总取值</a:t>
                      </a:r>
                      <a:r>
                        <a:rPr lang="zh-CN" altLang="en-US"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数量</a:t>
                      </a:r>
                      <a:endParaRPr lang="zh-CN" altLang="en-US"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</a:tr>
              <a:tr h="6762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相关系数 ρ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0.1、0.3、0.5、0.7、0.9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/ 5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构件总数 n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8～48</a:t>
                      </a:r>
                      <a:endParaRPr lang="zh-CN"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 / 11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可靠指标 β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3.0～3.6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/ 7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潜在脆性构件数量 n₁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1、2、3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/ 3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47700" y="5276850"/>
            <a:ext cx="10810875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已形成：复现与对比表、单参数回填表、Origin工程及图件、论文计算方法说明。</a:t>
            </a:r>
            <a:endParaRPr sz="2100" b="0">
              <a:solidFill>
                <a:srgbClr val="27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4095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三组完整单参数结果均显示RAW平均值随参数增加而上升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63150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0">
              <a:solidFill>
                <a:srgbClr val="536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1447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相关系数 ρ</a:t>
            </a:r>
            <a:endParaRPr sz="2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552450" y="2038350"/>
          <a:ext cx="3629025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800100" y="5229225"/>
            <a:ext cx="33147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0.8516 → 0.9328</a:t>
            </a:r>
            <a:endParaRPr sz="2100" b="1">
              <a:solidFill>
                <a:srgbClr val="27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429125" y="151447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构件总数 n</a:t>
            </a:r>
            <a:endParaRPr sz="2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1" name="Chart"/>
          <p:cNvGraphicFramePr/>
          <p:nvPr/>
        </p:nvGraphicFramePr>
        <p:xfrm>
          <a:off x="4295775" y="2038350"/>
          <a:ext cx="3629025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4543425" y="5229225"/>
            <a:ext cx="33147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0.8516 → 0.9781</a:t>
            </a:r>
            <a:endParaRPr sz="2100" b="1">
              <a:solidFill>
                <a:srgbClr val="27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72450" y="151447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潜在脆性数量 n₁</a:t>
            </a:r>
            <a:endParaRPr sz="2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4" name="Chart"/>
          <p:cNvGraphicFramePr/>
          <p:nvPr/>
        </p:nvGraphicFramePr>
        <p:xfrm>
          <a:off x="8039100" y="2038350"/>
          <a:ext cx="3629025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矩形 11"/>
          <p:cNvSpPr>
            <a:spLocks noGrp="1"/>
          </p:cNvSpPr>
          <p:nvPr/>
        </p:nvSpPr>
        <p:spPr>
          <a:xfrm>
            <a:off x="8286750" y="5229225"/>
            <a:ext cx="33147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0.8516 → 0.8601</a:t>
            </a:r>
            <a:endParaRPr sz="2100" b="1">
              <a:solidFill>
                <a:srgbClr val="27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" y="581025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A44D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A44D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纵轴：RAW平均值（各图范围不同）；可靠指标 β 的趋势仍待补齐数据。</a:t>
            </a:r>
            <a:endParaRPr sz="1725" b="0">
              <a:solidFill>
                <a:srgbClr val="A44D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4095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先取得一组RRW基准概率，再展开批量计算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63150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0">
              <a:solidFill>
                <a:srgbClr val="536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571625"/>
            <a:ext cx="1090612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基准输入：n = 8，n₁ = 1，β = 3.0，ρ = 0.1，脆性属性概率 p = 0.2</a:t>
            </a:r>
            <a:endParaRPr sz="2100" b="1">
              <a:solidFill>
                <a:srgbClr val="27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2619375"/>
          <a:ext cx="10972800" cy="3000375"/>
        </p:xfrm>
        <a:graphic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6000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提交 / 返回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提交目标处理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唯一潜在脆性构件：保留并令其完全可靠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返回原系统概率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</a:t>
                      </a:r>
                      <a:r>
                        <a:rPr lang="zh-CN"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下界</a:t>
                      </a:r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</a:t>
                      </a:r>
                      <a:r>
                        <a:rPr lang="zh-CN"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上界</a:t>
                      </a:r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；与旧基准约0.01092核对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返回完全可靠系统概率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Pi</a:t>
                      </a:r>
                      <a:r>
                        <a:rPr lang="zh-CN"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下界</a:t>
                      </a:r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⁺、Pi</a:t>
                      </a:r>
                      <a:r>
                        <a:rPr lang="zh-CN"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上界</a:t>
                      </a:r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⁺；用于RRW分母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同步说明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实际输入、是否已加权、算法档位及数值精度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4095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后续按“单参数验证完成，再开展多参数”推进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63150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0">
              <a:solidFill>
                <a:srgbClr val="536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676400"/>
          <a:ext cx="10972800" cy="2790825"/>
        </p:xfrm>
        <a:graphic>
          <a:graphicData uri="http://schemas.openxmlformats.org/drawingml/2006/table">
            <a:tbl>
              <a:tblPr/>
              <a:tblGrid>
                <a:gridCol w="1905000"/>
                <a:gridCol w="5162550"/>
                <a:gridCol w="3905250"/>
              </a:tblGrid>
              <a:tr h="9302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轮次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要做的事情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形成的结果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17324D"/>
                    </a:solidFill>
                  </a:tcPr>
                </a:tc>
              </a:tr>
              <a:tr h="9302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第一轮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单参数分析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完成基准确认；计算ρ、n、β、n₁影响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补齐RAW可靠指标缺项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单参数RRW数据与图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同条件RAW／RRW对照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  <a:tr h="9302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第二轮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多参数分析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联合分析ρ×n₁、n×n₁、n×ρ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沿用已确认的计算口径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多参数数据与图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解释参数共同影响</a:t>
                      </a:r>
                      <a:endParaRPr sz="2025" b="0">
                        <a:solidFill>
                          <a:srgbClr val="26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11430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47700" y="4857750"/>
            <a:ext cx="108013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A44D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A44D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多参数提交前：核对原始Origin采样点；</a:t>
            </a:r>
            <a:endParaRPr sz="2100" b="0">
              <a:solidFill>
                <a:srgbClr val="A44D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4095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当前已具备RAW对照基础，下一步重点是RRW基准计算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63150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5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>
              <a:solidFill>
                <a:srgbClr val="5365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676400"/>
            <a:ext cx="23241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23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076575" y="1676400"/>
            <a:ext cx="8429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20行RAW复现与核对，共60个数值。</a:t>
            </a:r>
            <a:endParaRPr sz="2250" b="0">
              <a:solidFill>
                <a:srgbClr val="26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250" b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已形成回填表、Origin图件和计算方法说明。</a:t>
            </a:r>
            <a:endParaRPr sz="2250" b="0">
              <a:solidFill>
                <a:srgbClr val="26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3048000"/>
            <a:ext cx="23241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尚未完成</a:t>
            </a:r>
            <a:endParaRPr sz="23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76575" y="3048000"/>
            <a:ext cx="8429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6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RAW可靠指标6组缺项；RRW概率求解及单参数、多参数结果。</a:t>
            </a:r>
            <a:endParaRPr sz="2250" b="0">
              <a:solidFill>
                <a:srgbClr val="26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4419600"/>
            <a:ext cx="23812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本次希望确认</a:t>
            </a:r>
            <a:endParaRPr sz="2325" b="1">
              <a:solidFill>
                <a:srgbClr val="27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076575" y="4419600"/>
            <a:ext cx="84296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完全可靠的实现与失效定义、RRW区间口径。</a:t>
            </a:r>
            <a:endParaRPr sz="2250" b="1">
              <a:solidFill>
                <a:srgbClr val="27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25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76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申请首组基准计算，并明确返回数据项。</a:t>
            </a:r>
            <a:endParaRPr sz="2250" b="1">
              <a:solidFill>
                <a:srgbClr val="276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</Words>
  <Application>WPS 演示</Application>
  <PresentationFormat>Converted Presentation</PresentationFormat>
  <Paragraphs>170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Calibri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weixiao</cp:lastModifiedBy>
  <cp:revision>2</cp:revision>
  <dcterms:created xsi:type="dcterms:W3CDTF">2026-09-14T09:12:00Z</dcterms:created>
  <dcterms:modified xsi:type="dcterms:W3CDTF">2026-09-14T14:28:08Z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B215A1838A98430EBAE0B21F96483455_12</vt:lpwstr>
  </property>
</Properties>
</file>